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Three teams report the same KPI name. Planning says 95%, Procurement says 85%, and Logistics says 90%. All three can be correct. ChainProof governs the enterprise definition before AI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conflict is semantic, not merely malformed data. ChainProof treats the metric contract itself as governed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position ChainProof as a metric trust control plane, not a dashboard or generic chatbot.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View as in plain language: the account has one learner role, so the UI demonstrates what each persona would see. It is not impersonation or RBAC. The approval preview is session-only; the stored v1.0 approval exists in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these stylized mockups with final screenshots if desired: 01_conflict_scanner.png and 04_trusted_enterprise_v1.png. The deck remains understandable without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that Streamlit presents governed results and does not reimplement formulas in Python.
[Sources]
- Hackathon workshop transcript supplied by participant: synthetic supply-chain data → Semantic Views → verified queries → agent/orchestration → analyst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scope defect that Part 8R fixed: PO-5001 must return 85%, while enterprise aggregate intentionally returns 288/555 = 51.9%.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evidence is cited and the operational consequences are separated by responsibility. Do not describe a hypothetical candidate metric in the main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an official evaluation score. Explain that only the account-level batch automation was blocked; live Cortex Analyst questions and direct semantic tests work.
[Sources]
- https://coco-cli.yourstory.com/hackathon - evaluation rubric: real-world relevance 30%, technical execution 40%, solution completeness 30%.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comparison to prevent judges from categorizing ChainProof as a dashboard, catalog, or generic chat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line: Semantic layers govern agreed metrics. ChainProof governs the disagreement that exists before agreement. The official submission expects a public repository, deployed prototype, and presentation.
[Sources]
- Hackathon workshop transcript supplied by participant: public GitHub, deployed link, working prototype, and presentation are requested.
- https://coco-cli.yourstory.com/hackathon - end-to-end deployable system and evaluation rubric.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INPROOF_MASTER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 w="12700">
            <a:solidFill>
              <a:srgbClr val="07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582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CHAINPROOF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05740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2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 CoCo CLI Hackathon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hainproof_impact_refinement/overlay/docs/assets/architecture/chainproof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74520" y="5943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ChainProof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901952" y="1261872"/>
            <a:ext cx="7360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2D5FF"/>
                </a:solidFill>
              </a:rPr>
              <a:t>Metric Trust and Reconciliation for Supply-Chain AI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85800" y="18745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AF8FF"/>
                </a:solidFill>
              </a:rPr>
              <a:t>One KPI name. Three valid calculations. One governed enterprise answer.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68680" y="269748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0D2941"/>
          </a:solidFill>
          <a:ln w="19050">
            <a:solidFill>
              <a:srgbClr val="2E75FF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14984" y="286207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14984" y="31729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9A5BE"/>
                </a:solidFill>
              </a:rPr>
              <a:t>Material Availability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960120" y="35478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5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95%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4544568" y="269748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0D2941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90872" y="286207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Procurement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90872" y="31729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9A5BE"/>
                </a:solidFill>
              </a:rPr>
              <a:t>Accepted Supplier Fill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4636008" y="35478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85%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8220456" y="269748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0D2941"/>
          </a:solidFill>
          <a:ln w="19050">
            <a:solidFill>
              <a:srgbClr val="F5B84B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66760" y="286207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66760" y="31729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9A5BE"/>
                </a:solidFill>
              </a:rPr>
              <a:t>On-Time Arrival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8311896" y="35478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B84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90%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5349240" y="4507992"/>
            <a:ext cx="1508760" cy="658368"/>
          </a:xfrm>
          <a:prstGeom prst="downArrow">
            <a:avLst/>
          </a:prstGeom>
          <a:solidFill>
            <a:srgbClr val="32D5FF">
              <a:alpha val="95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913632" y="5230368"/>
            <a:ext cx="4370832" cy="868680"/>
          </a:xfrm>
          <a:prstGeom prst="roundRect">
            <a:avLst/>
          </a:prstGeom>
          <a:solidFill>
            <a:srgbClr val="102F3C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160520" y="5504688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Enterprise Supplier Fill Rate v1.0  =  85%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509760" y="65836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D2941"/>
          </a:solidFill>
          <a:ln w="15240">
            <a:solidFill>
              <a:srgbClr val="32D5FF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582912" y="722376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2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Snowflake-native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509760" y="105156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D2941"/>
          </a:solidFill>
          <a:ln w="15240">
            <a:solidFill>
              <a:srgbClr val="9B8AFB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582912" y="1115568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8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CoCo CLI-assisted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data and valid SQL can still produce the wrong business answer.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</p:sp>
      <p:pic>
        <p:nvPicPr>
          <p:cNvPr id="5" name="Image 0" descr="/mnt/data/chainproof_impact_refinement/overlay/docs/assets/architecture/business_conflict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20762"/>
            <a:ext cx="6492240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64208"/>
            <a:ext cx="3886200" cy="804672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54112" y="18105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Executive inconsistency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54112" y="20574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DCEBFA"/>
                </a:solidFill>
              </a:rPr>
              <a:t>Different teams publish incompatible KPIs under one label.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7543800" y="2670048"/>
            <a:ext cx="3886200" cy="804672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F5B8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54112" y="28163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Supplier disputes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54112" y="30632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DCEBFA"/>
                </a:solidFill>
              </a:rPr>
              <a:t>Date and quality rules change accountability.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7543800" y="3675888"/>
            <a:ext cx="3886200" cy="804672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32D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54112" y="382219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54112" y="40690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DCEBFA"/>
                </a:solidFill>
              </a:rPr>
              <a:t>A copilot can confidently select the wrong definition.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7543800" y="4681728"/>
            <a:ext cx="3886200" cy="804672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9B8AF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48280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reconciliation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54112" y="50749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DCEBFA"/>
                </a:solidFill>
              </a:rPr>
              <a:t>Analysts repeatedly rebuild the same explanation.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543800" y="5623560"/>
            <a:ext cx="3886200" cy="566928"/>
          </a:xfrm>
          <a:prstGeom prst="roundRect">
            <a:avLst/>
          </a:prstGeom>
          <a:solidFill>
            <a:srgbClr val="221E2F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580644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6B6B"/>
                </a:solidFill>
              </a:rPr>
              <a:t>Correct SQL + wrong metric meaning = confidently wrong AI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ChainProof trust lifecycle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analytics begins only after the metric is governed.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84248"/>
            <a:ext cx="320040" cy="320040"/>
          </a:xfrm>
          <a:prstGeom prst="ellipse">
            <a:avLst/>
          </a:prstGeom>
          <a:solidFill>
            <a:srgbClr val="FF6B6B">
              <a:alpha val="20000"/>
            </a:srgbClr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CEBFA"/>
                </a:solidFill>
              </a:rPr>
              <a:t>Find one label with competing calculations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2025396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03120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32D5F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12848" y="1984248"/>
            <a:ext cx="320040" cy="320040"/>
          </a:xfrm>
          <a:prstGeom prst="ellipse">
            <a:avLst/>
          </a:prstGeom>
          <a:solidFill>
            <a:srgbClr val="32D5FF">
              <a:alpha val="20000"/>
            </a:srgbClr>
          </a:solidFill>
          <a:ln w="15240">
            <a:solidFill>
              <a:srgbClr val="32D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D5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31136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CEBFA"/>
                </a:solidFill>
              </a:rPr>
              <a:t>Grain, numerator, denominator, dates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689604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67328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2E75F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77056" y="1984248"/>
            <a:ext cx="320040" cy="320040"/>
          </a:xfrm>
          <a:prstGeom prst="ellipse">
            <a:avLst/>
          </a:prstGeom>
          <a:solidFill>
            <a:srgbClr val="2E75FF">
              <a:alpha val="20000"/>
            </a:srgbClr>
          </a:solidFill>
          <a:ln w="15240">
            <a:solidFill>
              <a:srgbClr val="2E7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77056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42816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Assess impact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95344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CEBFA"/>
                </a:solidFill>
              </a:rPr>
              <a:t>Translate rates into supplier, logistics, and production action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353812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31536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9B8AF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41264" y="1984248"/>
            <a:ext cx="320040" cy="320040"/>
          </a:xfrm>
          <a:prstGeom prst="ellipse">
            <a:avLst/>
          </a:prstGeom>
          <a:solidFill>
            <a:srgbClr val="9B8AFB">
              <a:alpha val="20000"/>
            </a:srgbClr>
          </a:solidFill>
          <a:ln w="15240">
            <a:solidFill>
              <a:srgbClr val="9B8A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8AFB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07024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9552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CEBFA"/>
                </a:solidFill>
              </a:rPr>
              <a:t>Attach agreement, SLA, and policy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018020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95744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34D399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05472" y="1984248"/>
            <a:ext cx="320040" cy="320040"/>
          </a:xfrm>
          <a:prstGeom prst="ellipse">
            <a:avLst/>
          </a:prstGeom>
          <a:solidFill>
            <a:srgbClr val="34D399">
              <a:alpha val="20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71232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CEBFA"/>
                </a:solidFill>
              </a:rPr>
              <a:t>Human Data Steward decision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8682228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759952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F5B84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869680" y="1984248"/>
            <a:ext cx="320040" cy="320040"/>
          </a:xfrm>
          <a:prstGeom prst="ellipse">
            <a:avLst/>
          </a:prstGeom>
          <a:solidFill>
            <a:srgbClr val="F5B84B">
              <a:alpha val="20000"/>
            </a:srgbClr>
          </a:solidFill>
          <a:ln w="15240">
            <a:solidFill>
              <a:srgbClr val="F5B8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4B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235440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Publish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87968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CEBFA"/>
                </a:solidFill>
              </a:rPr>
              <a:t>Only approved version reaches Semantic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10346436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424160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32D5F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533888" y="1984248"/>
            <a:ext cx="320040" cy="320040"/>
          </a:xfrm>
          <a:prstGeom prst="ellipse">
            <a:avLst/>
          </a:prstGeom>
          <a:solidFill>
            <a:srgbClr val="32D5FF">
              <a:alpha val="20000"/>
            </a:srgbClr>
          </a:solidFill>
          <a:ln w="15240">
            <a:solidFill>
              <a:srgbClr val="32D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33888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D5FF"/>
                </a:solidFill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899648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552176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CEBFA"/>
                </a:solidFill>
              </a:rPr>
              <a:t>Cortex answer + visible evidence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1005840" y="4041648"/>
            <a:ext cx="10149840" cy="1216152"/>
          </a:xfrm>
          <a:prstGeom prst="roundRect">
            <a:avLst/>
          </a:prstGeom>
          <a:solidFill>
            <a:srgbClr val="0D2941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261872" y="4315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</a:rPr>
              <a:t>Metric trust firewall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3794760" y="4242816"/>
            <a:ext cx="6903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normal copilot answers the question. ChainProof first proves which definition it is allowed to use.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143000" y="5715000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2D5FF"/>
                </a:solidFill>
              </a:rPr>
              <a:t>USP: Semantic layers govern agreed metrics. ChainProof governs the disagreement that exists before agreement.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Human governance changes the answer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consumes the Data Steward decision; it does not make it.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257800" cy="4160520"/>
          </a:xfrm>
          <a:prstGeom prst="roundRect">
            <a:avLst/>
          </a:prstGeom>
          <a:solidFill>
            <a:srgbClr val="0D2941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8836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BEFORE APPROVAL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48716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Planning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5FF"/>
                </a:solidFill>
              </a:rPr>
              <a:t>95%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2788920"/>
            <a:ext cx="4297680" cy="0"/>
          </a:xfrm>
          <a:prstGeom prst="line">
            <a:avLst/>
          </a:prstGeom>
          <a:noFill/>
          <a:ln w="8890">
            <a:solidFill>
              <a:srgbClr val="2A49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0896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Procurement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85%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0712"/>
            <a:ext cx="4297680" cy="0"/>
          </a:xfrm>
          <a:prstGeom prst="line">
            <a:avLst/>
          </a:prstGeom>
          <a:noFill/>
          <a:ln w="8890">
            <a:solidFill>
              <a:srgbClr val="2A49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3075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Logistics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3666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B84B"/>
                </a:solidFill>
              </a:rPr>
              <a:t>90%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4032504"/>
            <a:ext cx="4297680" cy="0"/>
          </a:xfrm>
          <a:prstGeom prst="line">
            <a:avLst/>
          </a:prstGeom>
          <a:noFill/>
          <a:ln w="8890">
            <a:solidFill>
              <a:srgbClr val="2A49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590288"/>
            <a:ext cx="4617720" cy="685800"/>
          </a:xfrm>
          <a:prstGeom prst="roundRect">
            <a:avLst/>
          </a:prstGeom>
          <a:solidFill>
            <a:srgbClr val="2A1D27"/>
          </a:solidFill>
          <a:ln w="1397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809744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Enterprise answer: NOT APPROVED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91072" y="1645920"/>
            <a:ext cx="5257800" cy="4160520"/>
          </a:xfrm>
          <a:prstGeom prst="roundRect">
            <a:avLst/>
          </a:prstGeom>
          <a:solidFill>
            <a:srgbClr val="0D2941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47104" y="18836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AFTER DATA STEWARD APPROVAL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25420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Enterprise Supplier Fill Rate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31546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</a:rPr>
              <a:t>85%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720840" y="39776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D5FF"/>
                </a:solidFill>
              </a:rPr>
              <a:t>Version 1.0  |  Enterprise - Approved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44805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BFA"/>
                </a:solidFill>
              </a:rPr>
              <a:t>85 accepted on time / 100 ordered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22592" y="4937760"/>
            <a:ext cx="3840480" cy="475488"/>
          </a:xfrm>
          <a:prstGeom prst="roundRect">
            <a:avLst/>
          </a:prstGeom>
          <a:solidFill>
            <a:srgbClr val="0F3A3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51023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4D399"/>
                </a:solidFill>
              </a:rPr>
              <a:t>Approved → Active → Published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961888" y="3154680"/>
            <a:ext cx="201168" cy="502920"/>
          </a:xfrm>
          <a:prstGeom prst="chevron">
            <a:avLst/>
          </a:prstGeom>
          <a:solidFill>
            <a:srgbClr val="32D5FF"/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612648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9A5BE"/>
                </a:solidFill>
              </a:rPr>
              <a:t>“View as” demonstrates persona presentation under one learner role. It never changes permissions or formulas.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Judge-first product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deployed app tells the business story before showing architecture.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F7FAFC"/>
          </a:solidFill>
          <a:ln w="12700">
            <a:solidFill>
              <a:srgbClr val="B9C8D4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609344"/>
            <a:ext cx="5285232" cy="292608"/>
          </a:xfrm>
          <a:prstGeom prst="rect">
            <a:avLst/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700784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" y="1700784"/>
            <a:ext cx="73152" cy="73152"/>
          </a:xfrm>
          <a:prstGeom prst="ellipse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170078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67335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84359"/>
                </a:solidFill>
              </a:rPr>
              <a:t>Start Here - historical conflict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749808" y="2020824"/>
            <a:ext cx="1051560" cy="3520440"/>
          </a:xfrm>
          <a:prstGeom prst="rect">
            <a:avLst/>
          </a:prstGeom>
          <a:solidFill>
            <a:srgbClr val="EEF4F8"/>
          </a:solidFill>
          <a:ln w="7620">
            <a:solidFill>
              <a:srgbClr val="D7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671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F7890"/>
                </a:solidFill>
              </a:rPr>
              <a:t>View as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22960" y="2350008"/>
            <a:ext cx="859536" cy="246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423160"/>
            <a:ext cx="7132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84359"/>
                </a:solidFill>
              </a:rPr>
              <a:t>Data Steward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50392" y="2734056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F7890"/>
                </a:solidFill>
              </a:rPr>
              <a:t>PO-5001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50392" y="30815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F7890"/>
                </a:solidFill>
              </a:rPr>
              <a:t>Demo stage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993392" y="210312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F3C"/>
                </a:solidFill>
              </a:rPr>
              <a:t>One KPI name. Three answers.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2532888"/>
            <a:ext cx="115214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48256" y="26700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84359"/>
                </a:solidFill>
              </a:rPr>
              <a:t>Planning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2048256" y="295351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FF"/>
                </a:solidFill>
              </a:rPr>
              <a:t>95%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73552" y="2532888"/>
            <a:ext cx="115214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8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6700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84359"/>
                </a:solidFill>
              </a:rPr>
              <a:t>Procurement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3310128" y="295351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876"/>
                </a:solidFill>
              </a:rPr>
              <a:t>85%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35424" y="2532888"/>
            <a:ext cx="115214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6700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84359"/>
                </a:solidFill>
              </a:rPr>
              <a:t>Logistics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4572000" y="295351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8A16"/>
                </a:solidFill>
              </a:rPr>
              <a:t>90%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993392" y="3520440"/>
            <a:ext cx="3785616" cy="429768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3657600"/>
            <a:ext cx="3602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63A3A"/>
                </a:solidFill>
              </a:rPr>
              <a:t>Metric conflict detected - no enterprise answer selected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6245352" y="1600200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F7FAFC"/>
          </a:solidFill>
          <a:ln w="12700">
            <a:solidFill>
              <a:srgbClr val="B9C8D4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1609344"/>
            <a:ext cx="5285232" cy="292608"/>
          </a:xfrm>
          <a:prstGeom prst="rect">
            <a:avLst/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64224" y="1700784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28816" y="1700784"/>
            <a:ext cx="73152" cy="73152"/>
          </a:xfrm>
          <a:prstGeom prst="ellipse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93408" y="170078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167335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84359"/>
                </a:solidFill>
              </a:rPr>
              <a:t>Trusted Enterprise Answer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355080" y="2020824"/>
            <a:ext cx="1051560" cy="3520440"/>
          </a:xfrm>
          <a:prstGeom prst="rect">
            <a:avLst/>
          </a:prstGeom>
          <a:solidFill>
            <a:srgbClr val="EEF4F8"/>
          </a:solidFill>
          <a:ln w="7620">
            <a:solidFill>
              <a:srgbClr val="D7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1671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F7890"/>
                </a:solidFill>
              </a:rPr>
              <a:t>View as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428232" y="2350008"/>
            <a:ext cx="859536" cy="246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8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01384" y="2423160"/>
            <a:ext cx="7132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84359"/>
                </a:solidFill>
              </a:rPr>
              <a:t>Data Steward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455664" y="2734056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F7890"/>
                </a:solidFill>
              </a:rPr>
              <a:t>PO-5001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455664" y="30815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F7890"/>
                </a:solidFill>
              </a:rPr>
              <a:t>Demo stage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7598664" y="210312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F3C"/>
                </a:solidFill>
              </a:rPr>
              <a:t>Trusted Enterprise Answer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598664" y="2532888"/>
            <a:ext cx="3785616" cy="1143000"/>
          </a:xfrm>
          <a:prstGeom prst="roundRect">
            <a:avLst/>
          </a:prstGeom>
          <a:solidFill>
            <a:srgbClr val="ECFFF8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35824" y="269748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6B4B"/>
                </a:solidFill>
              </a:rPr>
              <a:t>Enterprise Supplier Fill Rate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35824" y="3008376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A876"/>
                </a:solidFill>
              </a:rPr>
              <a:t>85%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7735824" y="3429000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dirty="0">
                <a:solidFill>
                  <a:srgbClr val="116B4B"/>
                </a:solidFill>
              </a:rPr>
              <a:t>Version 1.0  |  Enterprise - Approved</a:t>
            </a:r>
            <a:endParaRPr lang="en-US" sz="710" dirty="0"/>
          </a:p>
        </p:txBody>
      </p:sp>
      <p:sp>
        <p:nvSpPr>
          <p:cNvPr id="46" name="Text 44"/>
          <p:cNvSpPr/>
          <p:nvPr/>
        </p:nvSpPr>
        <p:spPr>
          <a:xfrm>
            <a:off x="7598664" y="386791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4359"/>
                </a:solidFill>
              </a:rPr>
              <a:t>85 accepted on time / 100 ordered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89320" y="3383280"/>
            <a:ext cx="164592" cy="329184"/>
          </a:xfrm>
          <a:prstGeom prst="chevron">
            <a:avLst/>
          </a:prstGeom>
          <a:solidFill>
            <a:srgbClr val="32D5FF"/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17320" y="5879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6B6B"/>
                </a:solidFill>
              </a:rPr>
              <a:t>Start with the bad state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132320" y="58795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End with the governed answer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Snowflake-native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has one responsibility and a deterministic validation gate.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</p:sp>
      <p:pic>
        <p:nvPicPr>
          <p:cNvPr id="5" name="Image 0" descr="/mnt/data/chainproof_impact_refinement/overlay/docs/assets/architecture/snowflak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1481328"/>
            <a:ext cx="764032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572768"/>
            <a:ext cx="2907792" cy="621792"/>
          </a:xfrm>
          <a:prstGeom prst="roundRect">
            <a:avLst/>
          </a:prstGeom>
          <a:solidFill>
            <a:srgbClr val="0D2941"/>
          </a:solidFill>
          <a:ln w="13970">
            <a:solidFill>
              <a:srgbClr val="32D5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50808" y="169164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D5FF"/>
                </a:solidFill>
              </a:rPr>
              <a:t>Semantic View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838944" y="1673352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CEBFA"/>
                </a:solidFill>
              </a:rPr>
              <a:t>Only approved metrics are public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8549640" y="2414016"/>
            <a:ext cx="2907792" cy="621792"/>
          </a:xfrm>
          <a:prstGeom prst="roundRect">
            <a:avLst/>
          </a:prstGeom>
          <a:solidFill>
            <a:srgbClr val="0D2941"/>
          </a:solidFill>
          <a:ln w="13970">
            <a:solidFill>
              <a:srgbClr val="2E7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0808" y="253288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FF"/>
                </a:solidFill>
              </a:rPr>
              <a:t>Cortex Analyst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838944" y="2514600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CEBFA"/>
                </a:solidFill>
              </a:rPr>
              <a:t>Natural-language governed SQL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8549640" y="3255264"/>
            <a:ext cx="2907792" cy="621792"/>
          </a:xfrm>
          <a:prstGeom prst="roundRect">
            <a:avLst/>
          </a:prstGeom>
          <a:solidFill>
            <a:srgbClr val="0D2941"/>
          </a:solidFill>
          <a:ln w="1397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50808" y="337413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Streamlit in Snowflake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838944" y="3355848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CEBFA"/>
                </a:solidFill>
              </a:rPr>
              <a:t>No external app credential required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8549640" y="4096512"/>
            <a:ext cx="2907792" cy="621792"/>
          </a:xfrm>
          <a:prstGeom prst="roundRect">
            <a:avLst/>
          </a:prstGeom>
          <a:solidFill>
            <a:srgbClr val="0D2941"/>
          </a:solidFill>
          <a:ln w="13970">
            <a:solidFill>
              <a:srgbClr val="9B8AF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50808" y="42153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8AFB"/>
                </a:solidFill>
              </a:rPr>
              <a:t>Evidence workflow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838944" y="4197096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CEBFA"/>
                </a:solidFill>
              </a:rPr>
              <a:t>Citations + trusted boundary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8549640" y="4937760"/>
            <a:ext cx="2907792" cy="621792"/>
          </a:xfrm>
          <a:prstGeom prst="roundRect">
            <a:avLst/>
          </a:prstGeom>
          <a:solidFill>
            <a:srgbClr val="0D2941"/>
          </a:solidFill>
          <a:ln w="13970">
            <a:solidFill>
              <a:srgbClr val="F5B84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50808" y="505663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4B"/>
                </a:solidFill>
              </a:rPr>
              <a:t>AUDIT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838944" y="5038344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CEBFA"/>
                </a:solidFill>
              </a:rPr>
              <a:t>Release controls + limitations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1005840" y="59893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8FF"/>
                </a:solidFill>
              </a:rPr>
              <a:t>RAW → CORE → GOVERNANCE → SEMANTIC → APP → AUDIT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Trust controls around every AI answer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ChainProof does not trust generated SQL merely because it compiles.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2E75F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810512"/>
            <a:ext cx="438912" cy="438912"/>
          </a:xfrm>
          <a:prstGeom prst="ellipse">
            <a:avLst/>
          </a:prstGeom>
          <a:solidFill>
            <a:srgbClr val="2E75FF">
              <a:alpha val="22000"/>
            </a:srgbClr>
          </a:solidFill>
          <a:ln w="13970">
            <a:solidFill>
              <a:srgbClr val="2E7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2938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35608" y="18105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CEBFA"/>
                </a:solidFill>
              </a:rPr>
              <a:t>PO-specific vs enterprise aggregate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507992" y="1645920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34D399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2584" y="1810512"/>
            <a:ext cx="438912" cy="438912"/>
          </a:xfrm>
          <a:prstGeom prst="ellipse">
            <a:avLst/>
          </a:prstGeom>
          <a:solidFill>
            <a:srgbClr val="34D399">
              <a:alpha val="22000"/>
            </a:srgbClr>
          </a:solidFill>
          <a:ln w="1397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92938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57800" y="18105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Read-only 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23957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CEBFA"/>
                </a:solidFill>
              </a:rPr>
              <a:t>One SELECT/WITH statement only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330184" y="1645920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32D5F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94776" y="1810512"/>
            <a:ext cx="438912" cy="438912"/>
          </a:xfrm>
          <a:prstGeom prst="ellipse">
            <a:avLst/>
          </a:prstGeom>
          <a:solidFill>
            <a:srgbClr val="32D5FF">
              <a:alpha val="22000"/>
            </a:srgbClr>
          </a:solidFill>
          <a:ln w="13970">
            <a:solidFill>
              <a:srgbClr val="32D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4776" y="192938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D5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79992" y="18105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Semantic boundary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58784" y="23957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CEBFA"/>
                </a:solidFill>
              </a:rPr>
              <a:t>No RAW, CORE, or GOVERNANCE access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85800" y="3547872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9B8AF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0392" y="3712464"/>
            <a:ext cx="438912" cy="438912"/>
          </a:xfrm>
          <a:prstGeom prst="ellipse">
            <a:avLst/>
          </a:prstGeom>
          <a:solidFill>
            <a:srgbClr val="9B8AFB">
              <a:alpha val="22000"/>
            </a:srgbClr>
          </a:solidFill>
          <a:ln w="13970">
            <a:solidFill>
              <a:srgbClr val="9B8A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8313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8AFB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35608" y="37124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Version passport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CEBFA"/>
                </a:solidFill>
              </a:rPr>
              <a:t>Name, scope, owner, version, formula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507992" y="3547872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F5B84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2584" y="3712464"/>
            <a:ext cx="438912" cy="438912"/>
          </a:xfrm>
          <a:prstGeom prst="ellipse">
            <a:avLst/>
          </a:prstGeom>
          <a:solidFill>
            <a:srgbClr val="F5B84B">
              <a:alpha val="22000"/>
            </a:srgbClr>
          </a:solidFill>
          <a:ln w="13970">
            <a:solidFill>
              <a:srgbClr val="F5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38313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4B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7124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Evidence trust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36592" y="42976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CEBFA"/>
                </a:solidFill>
              </a:rPr>
              <a:t>Citations; injection fixture excluded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330184" y="3547872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94776" y="3712464"/>
            <a:ext cx="438912" cy="438912"/>
          </a:xfrm>
          <a:prstGeom prst="ellipse">
            <a:avLst/>
          </a:prstGeom>
          <a:solidFill>
            <a:srgbClr val="FF6B6B">
              <a:alpha val="22000"/>
            </a:srgbClr>
          </a:solidFill>
          <a:ln w="1397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94776" y="38313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79992" y="37124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 authority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58784" y="42976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CEBFA"/>
                </a:solidFill>
              </a:rPr>
              <a:t>Advisor cannot approve or write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1143000" y="5623560"/>
            <a:ext cx="9875520" cy="566928"/>
          </a:xfrm>
          <a:prstGeom prst="roundRect">
            <a:avLst/>
          </a:prstGeom>
          <a:solidFill>
            <a:srgbClr val="0B2438"/>
          </a:solidFill>
          <a:ln w="12700">
            <a:solidFill>
              <a:srgbClr val="2A49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17320" y="5815584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D5FF"/>
                </a:solidFill>
              </a:rPr>
              <a:t>Fail visibly. Preserve the approved formula. Never fabricate a capability or answer.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Evidence and operational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governed number is explainable and connected to a concrete business action.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7FAFC"/>
          </a:solidFill>
          <a:ln w="12700">
            <a:solidFill>
              <a:srgbClr val="B9C8D4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609344"/>
            <a:ext cx="5330952" cy="292608"/>
          </a:xfrm>
          <a:prstGeom prst="rect">
            <a:avLst/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700784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700784"/>
            <a:ext cx="73152" cy="73152"/>
          </a:xfrm>
          <a:prstGeom prst="ellipse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" y="170078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1673352"/>
            <a:ext cx="4361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84359"/>
                </a:solidFill>
              </a:rPr>
              <a:t>Evidence-backed review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704088" y="2020824"/>
            <a:ext cx="1051560" cy="3703320"/>
          </a:xfrm>
          <a:prstGeom prst="rect">
            <a:avLst/>
          </a:prstGeom>
          <a:solidFill>
            <a:srgbClr val="EEF4F8"/>
          </a:solidFill>
          <a:ln w="7620">
            <a:solidFill>
              <a:srgbClr val="D7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671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F7890"/>
                </a:solidFill>
              </a:rPr>
              <a:t>View as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777240" y="2350008"/>
            <a:ext cx="859536" cy="246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423160"/>
            <a:ext cx="7132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84359"/>
                </a:solidFill>
              </a:rPr>
              <a:t>Data Steward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04672" y="2734056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F7890"/>
                </a:solidFill>
              </a:rPr>
              <a:t>PO-5001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04672" y="30815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F7890"/>
                </a:solidFill>
              </a:rPr>
              <a:t>Demo stage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947672" y="21031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F3C"/>
                </a:solidFill>
              </a:rPr>
              <a:t>Evidence-backed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47672" y="2496312"/>
            <a:ext cx="3831336" cy="2926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E7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2587752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84359"/>
                </a:solidFill>
              </a:rPr>
              <a:t>Supplier agreement  [cited]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1947672" y="2880360"/>
            <a:ext cx="3831336" cy="2926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2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2971800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84359"/>
                </a:solidFill>
              </a:rPr>
              <a:t>Carrier SLA  [cited]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947672" y="3264408"/>
            <a:ext cx="3831336" cy="2926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9B8A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39112" y="3355848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84359"/>
                </a:solidFill>
              </a:rPr>
              <a:t>Quality policy  [cited]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947672" y="3648456"/>
            <a:ext cx="3831336" cy="2926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39112" y="3739896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84359"/>
                </a:solidFill>
              </a:rPr>
              <a:t>Governance policy  [cited]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947672" y="4087368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63A3A"/>
                </a:solidFill>
              </a:rPr>
              <a:t>Advisor cannot approve or write governance data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272784" y="1600200"/>
            <a:ext cx="5303520" cy="4251960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F5B84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37960" y="1847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PO-5001 business impact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37960" y="22128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BFA"/>
                </a:solidFill>
              </a:rPr>
              <a:t>Enterprise Supplier Fill Rate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29400" y="2615184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B84B"/>
                </a:solidFill>
              </a:rPr>
              <a:t>85%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629400" y="3200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against 90% threshold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887968" y="2542032"/>
            <a:ext cx="2103120" cy="822960"/>
          </a:xfrm>
          <a:prstGeom prst="roundRect">
            <a:avLst/>
          </a:prstGeom>
          <a:solidFill>
            <a:srgbClr val="351D24"/>
          </a:solidFill>
          <a:ln w="1397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272491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</a:rPr>
              <a:t>15 units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52560" y="304495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BFA"/>
                </a:solidFill>
              </a:rPr>
              <a:t>supplier shortfall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601968" y="3675888"/>
            <a:ext cx="4663440" cy="393192"/>
          </a:xfrm>
          <a:prstGeom prst="roundRect">
            <a:avLst/>
          </a:prstGeom>
          <a:solidFill>
            <a:srgbClr val="0B2438"/>
          </a:solidFill>
          <a:ln w="1143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785616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6B"/>
                </a:solidFill>
              </a:rPr>
              <a:t>Procurement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7818120" y="3767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BFA"/>
                </a:solidFill>
              </a:rPr>
              <a:t>15 acceptable units short by original PO date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601968" y="4187952"/>
            <a:ext cx="4663440" cy="393192"/>
          </a:xfrm>
          <a:prstGeom prst="roundRect">
            <a:avLst/>
          </a:prstGeom>
          <a:solidFill>
            <a:srgbClr val="0B2438"/>
          </a:solidFill>
          <a:ln w="11430">
            <a:solidFill>
              <a:srgbClr val="F5B8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4297680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5B84B"/>
                </a:solidFill>
              </a:rPr>
              <a:t>Logistics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7818120" y="4279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BFA"/>
                </a:solidFill>
              </a:rPr>
              <a:t>10 units arrived after carrier commitment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601968" y="4700016"/>
            <a:ext cx="4663440" cy="393192"/>
          </a:xfrm>
          <a:prstGeom prst="roundRect">
            <a:avLst/>
          </a:prstGeom>
          <a:solidFill>
            <a:srgbClr val="0B2438"/>
          </a:solidFill>
          <a:ln w="11430">
            <a:solidFill>
              <a:srgbClr val="32D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80974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2D5FF"/>
                </a:solidFill>
              </a:rPr>
              <a:t>Planning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7818120" y="47914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BFA"/>
                </a:solidFill>
              </a:rPr>
              <a:t>5 usable batteries short; up to 5 laptops at risk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601968" y="5340096"/>
            <a:ext cx="4663440" cy="347472"/>
          </a:xfrm>
          <a:prstGeom prst="roundRect">
            <a:avLst/>
          </a:prstGeom>
          <a:solidFill>
            <a:srgbClr val="172A2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84848" y="5449824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4D399"/>
                </a:solidFill>
              </a:rPr>
              <a:t>Action: supplier escalation + carrier follow-up + production mitigation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914400" y="61264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9A5BE"/>
                </a:solidFill>
              </a:rPr>
              <a:t>One governed metric, three clearly separated operational consequences.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Technical execution and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twelve-part build with deterministic gates, real account evidence, and truthful limitations.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00200"/>
            <a:ext cx="1993392" cy="1143000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2E7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105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FF"/>
                </a:solidFill>
              </a:rPr>
              <a:t>12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CEBFA"/>
                </a:solidFill>
              </a:rPr>
              <a:t>controlled build parts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2926080" y="1600200"/>
            <a:ext cx="1993392" cy="1143000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32D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18105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2D5FF"/>
                </a:solidFill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63240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CEBFA"/>
                </a:solidFill>
              </a:rPr>
              <a:t>Snowflake schemas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230368" y="1600200"/>
            <a:ext cx="1993392" cy="1143000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0096" y="18105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67528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CEBFA"/>
                </a:solidFill>
              </a:rPr>
              <a:t>approved public metrics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534656" y="1600200"/>
            <a:ext cx="1993392" cy="1143000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9B8A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44384" y="18105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8AFB"/>
                </a:solidFill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671816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CEBFA"/>
                </a:solidFill>
              </a:rPr>
              <a:t>verified questions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838944" y="1600200"/>
            <a:ext cx="1993392" cy="1143000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F5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48672" y="18105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B84B"/>
                </a:solidFill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976104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CEBFA"/>
                </a:solidFill>
              </a:rPr>
              <a:t>deployed Streamlit app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77240" y="3154680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3192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FF"/>
                </a:solidFill>
              </a:rPr>
              <a:t>RAW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75688" y="33101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files, rows, edge cases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492240" y="3154680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33192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D5FF"/>
                </a:solidFill>
              </a:rPr>
              <a:t>CORE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90688" y="33101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types, lineage, quality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77240" y="3950208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4114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8AFB"/>
                </a:solidFill>
              </a:rPr>
              <a:t>GOVERNANCE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75688" y="41056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versions, approval, activation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492240" y="3950208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4114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SEMANTIC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90688" y="41056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metrics, relationships, verified SQL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77240" y="4745736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" y="4910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4B"/>
                </a:solidFill>
              </a:rPr>
              <a:t>APP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075688" y="49011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scope, persona, evidence, SQL safety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492240" y="4745736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4910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AUDIT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90688" y="49011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release controls and limitations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77240" y="5687568"/>
            <a:ext cx="10972800" cy="502920"/>
          </a:xfrm>
          <a:prstGeom prst="roundRect">
            <a:avLst/>
          </a:prstGeom>
          <a:solidFill>
            <a:srgbClr val="241F12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5861304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B84B"/>
                </a:solidFill>
              </a:rPr>
              <a:t>Known limitation: official Analyst batch evaluation needs account-level task privileges. Live Cortex Analyst and deterministic tests passed.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Why ChainProof is different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governs metric disagreement - the gap before a normal semantic layer can help.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10881360" cy="4389120"/>
          </a:xfrm>
          <a:prstGeom prst="roundRect">
            <a:avLst/>
          </a:prstGeom>
          <a:solidFill>
            <a:srgbClr val="0D2941"/>
          </a:solidFill>
          <a:ln w="12700">
            <a:solidFill>
              <a:srgbClr val="2A49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A5BE"/>
                </a:solidFill>
              </a:rPr>
              <a:t>Category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8920" y="181051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A5BE"/>
                </a:solidFill>
              </a:rPr>
              <a:t>Typical capability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19088" y="181051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D5FF"/>
                </a:solidFill>
              </a:rPr>
              <a:t>ChainProof addition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" y="2148840"/>
            <a:ext cx="9966960" cy="0"/>
          </a:xfrm>
          <a:prstGeom prst="line">
            <a:avLst/>
          </a:prstGeom>
          <a:noFill/>
          <a:ln w="15240">
            <a:solidFill>
              <a:srgbClr val="32D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31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BI dashboard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78892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Displays configured KPIs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419088" y="2331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4D399"/>
                </a:solidFill>
              </a:rPr>
              <a:t>Detects conflicting KPI meaning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68680" y="2770632"/>
            <a:ext cx="9875520" cy="0"/>
          </a:xfrm>
          <a:prstGeom prst="line">
            <a:avLst/>
          </a:prstGeom>
          <a:noFill/>
          <a:ln w="7620">
            <a:solidFill>
              <a:srgbClr val="2A49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90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Data catalog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788920" y="2990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Documents names and owners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419088" y="29900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4D399"/>
                </a:solidFill>
              </a:rPr>
              <a:t>Executes formulas and compares impact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68680" y="3429000"/>
            <a:ext cx="9875520" cy="0"/>
          </a:xfrm>
          <a:prstGeom prst="line">
            <a:avLst/>
          </a:prstGeom>
          <a:noFill/>
          <a:ln w="7620">
            <a:solidFill>
              <a:srgbClr val="2A49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484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Semantic layer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788920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Publishes agreed definitions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419088" y="36484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4D399"/>
                </a:solidFill>
              </a:rPr>
              <a:t>Governs disagreement before agreement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68680" y="4087368"/>
            <a:ext cx="9875520" cy="0"/>
          </a:xfrm>
          <a:prstGeom prst="line">
            <a:avLst/>
          </a:prstGeom>
          <a:noFill/>
          <a:ln w="7620">
            <a:solidFill>
              <a:srgbClr val="2A49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3068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Generic AI copilot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2788920" y="43068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Answers with available metadata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419088" y="43068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4D399"/>
                </a:solidFill>
              </a:rPr>
              <a:t>Refuses ambiguity until governed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68680" y="4745736"/>
            <a:ext cx="9875520" cy="0"/>
          </a:xfrm>
          <a:prstGeom prst="line">
            <a:avLst/>
          </a:prstGeom>
          <a:noFill/>
          <a:ln w="7620">
            <a:solidFill>
              <a:srgbClr val="2A49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965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Metric store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788920" y="4965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BFA"/>
                </a:solidFill>
              </a:rPr>
              <a:t>Centralizes formulas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419088" y="49651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4D399"/>
                </a:solidFill>
              </a:rPr>
              <a:t>Preserves conflict, approval, activation, rollback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60120" y="617220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EAF8FF"/>
                </a:solidFill>
              </a:rPr>
              <a:t>Business value: fewer conflicting reports, faster reconciliation, stronger supplier accountability, and auditable AI answers.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hainproof_impact_refinement/overlay/docs/assets/architecture/chainproof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3152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841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ChainProof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822960" y="1975104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F8FF"/>
                </a:solidFill>
              </a:rPr>
              <a:t>Prevents AI from confidently answering the wrong KPI.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1097280" y="2788920"/>
            <a:ext cx="10012680" cy="1261872"/>
          </a:xfrm>
          <a:prstGeom prst="roundRect">
            <a:avLst/>
          </a:prstGeom>
          <a:solidFill>
            <a:srgbClr val="0D2941"/>
          </a:solidFill>
          <a:ln w="2032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417320" y="3163824"/>
            <a:ext cx="937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</a:rPr>
              <a:t>One KPI name. Three valid calculations. One governed enterprise answer.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74520" y="46177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D5FF"/>
                </a:solidFill>
              </a:rPr>
              <a:t>GitHub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0" y="4617720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DCEBFA"/>
                </a:solidFill>
              </a:rPr>
              <a:t>https://github.com/pankajadam-tech/chainproof-snowflake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1874520" y="5056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Live app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0" y="505663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DCEBFA"/>
                </a:solidFill>
              </a:rPr>
              <a:t>REPLACE_WITH_APP_URL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1874520" y="5495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8AFB"/>
                </a:solidFill>
              </a:rPr>
              <a:t>Walkthrough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0" y="549554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DCEBFA"/>
                </a:solidFill>
              </a:rPr>
              <a:t>REPLACE_WITH_VIDEO_URL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1005840" y="619963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9A5BE"/>
                </a:solidFill>
              </a:rPr>
              <a:t>Snowflake-native • CoCo CLI-assisted • Human governed • Evidence backed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ChainProof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ChainProof - Metric Trust and Reconciliation for Supply-Chain AI</dc:title>
  <dc:subject>Snowflake CoCo CLI Hackathon submission</dc:subject>
  <dc:creator>ChainProof</dc:creator>
  <cp:lastModifiedBy>ChainProof</cp:lastModifiedBy>
  <cp:revision>1</cp:revision>
  <dcterms:created xsi:type="dcterms:W3CDTF">2026-08-18T09:58:58Z</dcterms:created>
  <dcterms:modified xsi:type="dcterms:W3CDTF">2026-08-18T09:58:58Z</dcterms:modified>
</cp:coreProperties>
</file>